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9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3393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"/>
            <a:ext cx="1645920" cy="300625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164592"/>
            <a:ext cx="1920240" cy="4381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736592"/>
            <a:ext cx="11109960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2500" b="1" i="0">
                <a:solidFill>
                  <a:srgbClr val="111111"/>
                </a:solidFill>
                <a:latin typeface="Arial"/>
              </a:rPr>
              <a:t>Освітня платформа для організації
віртуального навчального процесу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2000" b="1" i="0">
                <a:solidFill>
                  <a:srgbClr val="0C8AA3"/>
                </a:solidFill>
                <a:latin typeface="Arial"/>
              </a:rPr>
              <a:t>Функціональне тестування мобільного та вебзастосунку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977639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Arial"/>
              </a:rPr>
              <a:t>Виконав: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3977639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Arial"/>
              </a:rPr>
              <a:t>ПЗПІ-23-7, Максименко Марко Віталійович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31596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Arial"/>
              </a:rPr>
              <a:t>Керівник: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3159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Arial"/>
              </a:rPr>
              <a:t>ст. викл. кафедри ПІ, Олійник Олена Володимирівна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589788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0" i="0">
                <a:solidFill>
                  <a:srgbClr val="5A6773"/>
                </a:solidFill>
                <a:latin typeface="Arial"/>
              </a:rPr>
              <a:t>2026 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Загальна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Загальна ідея платформи Mooden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Спільна частина командного проєкту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5623560" cy="21031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єдине середовище для організації віртуального навчального процесу;</a:t>
            </a:r>
          </a:p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доступ до курсів, матеріалів, завдань, тестів і оцінок з мобільного та вебклієнта;</a:t>
            </a:r>
          </a:p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рольова модель: здобувач, викладач, адміністратор;</a:t>
            </a:r>
          </a:p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робота через спільний backend і централізовану базу даних.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325880"/>
            <a:ext cx="19202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36" y="2211577"/>
            <a:ext cx="1847088" cy="220624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281160" y="1325880"/>
            <a:ext cx="19202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36" y="1490845"/>
            <a:ext cx="1847088" cy="36477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5440680"/>
            <a:ext cx="3977639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1">
                <a:solidFill>
                  <a:srgbClr val="5A6773"/>
                </a:solidFill>
                <a:latin typeface="Arial"/>
              </a:rPr>
              <a:t>Рисунок 1 – Головні екрани мобільної частини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Загальна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Актуальність розробки освітньої платформи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Проблеми, які вирішує командний проєкт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5528" y="1527048"/>
            <a:ext cx="292608" cy="292608"/>
          </a:xfrm>
          <a:prstGeom prst="ellipse">
            <a:avLst/>
          </a:prstGeom>
          <a:solidFill>
            <a:srgbClr val="0C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1554480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1508760"/>
            <a:ext cx="2825496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Мобільний доступ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1801368"/>
            <a:ext cx="3172968" cy="66751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50" b="0" i="0">
                <a:solidFill>
                  <a:srgbClr val="5A6773"/>
                </a:solidFill>
                <a:latin typeface="Arial"/>
              </a:rPr>
              <a:t>Студент повинен швидко отримувати завдання, новини та оцінки зі смартфона.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41732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98848" y="1527048"/>
            <a:ext cx="292608" cy="29260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8848" y="1554480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1508760"/>
            <a:ext cx="2825496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Єдині дані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1801368"/>
            <a:ext cx="3172968" cy="66751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50" b="0" i="0">
                <a:solidFill>
                  <a:srgbClr val="5A6773"/>
                </a:solidFill>
                <a:latin typeface="Arial"/>
              </a:rPr>
              <a:t>Веб і mobile повинні працювати з одними ролями, курсами та backend-маршрутами.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41732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02167" y="1527048"/>
            <a:ext cx="292608" cy="292608"/>
          </a:xfrm>
          <a:prstGeom prst="ellipse">
            <a:avLst/>
          </a:prstGeom>
          <a:solidFill>
            <a:srgbClr val="0F8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02167" y="1554480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1508760"/>
            <a:ext cx="2825496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Контроль якості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1801368"/>
            <a:ext cx="3172968" cy="66751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50" b="0" i="0">
                <a:solidFill>
                  <a:srgbClr val="5A6773"/>
                </a:solidFill>
                <a:latin typeface="Arial"/>
              </a:rPr>
              <a:t>Платформа має стабільно працювати без помилок авторизації та навігації.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2926080"/>
            <a:ext cx="18288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994" y="2962656"/>
            <a:ext cx="1287930" cy="257860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246120" y="2926080"/>
            <a:ext cx="18288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0369" y="2962656"/>
            <a:ext cx="1300300" cy="257860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440680" y="2926080"/>
            <a:ext cx="18288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6163" y="2962656"/>
            <a:ext cx="1697833" cy="25786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26679" y="3246120"/>
            <a:ext cx="3474720" cy="1783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rial"/>
              </a:rPr>
              <a:t>Функціональне тестування потрібне для підтвердження того, що ключові сценарії користувача виконуються коректно і не втрачають дані при взаємодії з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Загальна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Архітектура тестованої системи Mooden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Клієнтські частини працюють через єдину серверну логіку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287" y="1417320"/>
            <a:ext cx="7745505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742432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  <a:latin typeface="Arial"/>
              </a:rPr>
              <a:t>Під час тестування перевірявся ланцюг mobile / web → REST API → PostgreSQL → результати в інтерфейсі.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Загальна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Ролі користувачів і основні модулі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Діаграма варіантів використання для здобувача, викладача та адміністратора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289304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0" i="0" dirty="0" err="1">
                <a:solidFill>
                  <a:srgbClr val="5A6773"/>
                </a:solidFill>
                <a:latin typeface="Arial"/>
              </a:rPr>
              <a:t>На</a:t>
            </a:r>
            <a:r>
              <a:rPr sz="1200" b="0" i="0" dirty="0">
                <a:solidFill>
                  <a:srgbClr val="5A6773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773"/>
                </a:solidFill>
                <a:latin typeface="Arial"/>
              </a:rPr>
              <a:t>діаграмі</a:t>
            </a:r>
            <a:r>
              <a:rPr sz="1200" b="0" i="0" dirty="0">
                <a:solidFill>
                  <a:srgbClr val="5A6773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773"/>
                </a:solidFill>
                <a:latin typeface="Arial"/>
              </a:rPr>
              <a:t>зображено</a:t>
            </a:r>
            <a:r>
              <a:rPr sz="1200" b="0" i="0" dirty="0">
                <a:solidFill>
                  <a:srgbClr val="5A6773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773"/>
                </a:solidFill>
                <a:latin typeface="Arial"/>
              </a:rPr>
              <a:t>основні</a:t>
            </a:r>
            <a:r>
              <a:rPr sz="1200" b="0" i="0" dirty="0">
                <a:solidFill>
                  <a:srgbClr val="5A6773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773"/>
                </a:solidFill>
                <a:latin typeface="Arial"/>
              </a:rPr>
              <a:t>сценарії</a:t>
            </a:r>
            <a:r>
              <a:rPr sz="1200" b="0" i="0" dirty="0">
                <a:solidFill>
                  <a:srgbClr val="5A6773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773"/>
                </a:solidFill>
                <a:latin typeface="Arial"/>
              </a:rPr>
              <a:t>роботи</a:t>
            </a:r>
            <a:r>
              <a:rPr sz="1200" b="0" i="0" dirty="0">
                <a:solidFill>
                  <a:srgbClr val="5A6773"/>
                </a:solidFill>
                <a:latin typeface="Arial"/>
              </a:rPr>
              <a:t> з </a:t>
            </a:r>
            <a:r>
              <a:rPr sz="1200" b="0" i="0" dirty="0" err="1">
                <a:solidFill>
                  <a:srgbClr val="5A6773"/>
                </a:solidFill>
                <a:latin typeface="Arial"/>
              </a:rPr>
              <a:t>платформою</a:t>
            </a:r>
            <a:r>
              <a:rPr sz="1200" b="0" i="0" dirty="0">
                <a:solidFill>
                  <a:srgbClr val="5A6773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773"/>
                </a:solidFill>
                <a:latin typeface="Arial"/>
              </a:rPr>
              <a:t>для</a:t>
            </a:r>
            <a:r>
              <a:rPr sz="1200" b="0" i="0" dirty="0">
                <a:solidFill>
                  <a:srgbClr val="5A6773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773"/>
                </a:solidFill>
                <a:latin typeface="Arial"/>
              </a:rPr>
              <a:t>трьох</a:t>
            </a:r>
            <a:r>
              <a:rPr sz="1200" b="0" i="0" dirty="0">
                <a:solidFill>
                  <a:srgbClr val="5A6773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773"/>
                </a:solidFill>
                <a:latin typeface="Arial"/>
              </a:rPr>
              <a:t>ролей</a:t>
            </a:r>
            <a:r>
              <a:rPr sz="1200" b="0" i="0" dirty="0">
                <a:solidFill>
                  <a:srgbClr val="5A6773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773"/>
                </a:solidFill>
                <a:latin typeface="Arial"/>
              </a:rPr>
              <a:t>користувачів</a:t>
            </a:r>
            <a:r>
              <a:rPr sz="1200" b="0" i="0" dirty="0">
                <a:solidFill>
                  <a:srgbClr val="5A6773"/>
                </a:solidFill>
                <a:latin typeface="Arial"/>
              </a:rPr>
              <a:t>.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1554450"/>
            <a:ext cx="4736592" cy="46609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28416" y="6208776"/>
            <a:ext cx="539496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1" dirty="0" err="1">
                <a:solidFill>
                  <a:srgbClr val="5A6773"/>
                </a:solidFill>
                <a:latin typeface="Arial"/>
              </a:rPr>
              <a:t>Рисунок</a:t>
            </a:r>
            <a:r>
              <a:rPr sz="800" b="0" i="1" dirty="0">
                <a:solidFill>
                  <a:srgbClr val="5A6773"/>
                </a:solidFill>
                <a:latin typeface="Arial"/>
              </a:rPr>
              <a:t> 2 – </a:t>
            </a:r>
            <a:r>
              <a:rPr sz="800" b="0" i="1" dirty="0" err="1">
                <a:solidFill>
                  <a:srgbClr val="5A6773"/>
                </a:solidFill>
                <a:latin typeface="Arial"/>
              </a:rPr>
              <a:t>Варіанти</a:t>
            </a:r>
            <a:r>
              <a:rPr sz="800" b="0" i="1" dirty="0">
                <a:solidFill>
                  <a:srgbClr val="5A6773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5A6773"/>
                </a:solidFill>
                <a:latin typeface="Arial"/>
              </a:rPr>
              <a:t>використання</a:t>
            </a:r>
            <a:r>
              <a:rPr sz="800" b="0" i="1" dirty="0">
                <a:solidFill>
                  <a:srgbClr val="5A6773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5A6773"/>
                </a:solidFill>
                <a:latin typeface="Arial"/>
              </a:rPr>
              <a:t>освітньої</a:t>
            </a:r>
            <a:r>
              <a:rPr sz="800" b="0" i="1" dirty="0">
                <a:solidFill>
                  <a:srgbClr val="5A6773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5A6773"/>
                </a:solidFill>
                <a:latin typeface="Arial"/>
              </a:rPr>
              <a:t>платформи</a:t>
            </a:r>
            <a:r>
              <a:rPr sz="800" b="0" i="1" dirty="0">
                <a:solidFill>
                  <a:srgbClr val="5A6773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5A6773"/>
                </a:solidFill>
                <a:latin typeface="Arial"/>
              </a:rPr>
              <a:t>для</a:t>
            </a:r>
            <a:r>
              <a:rPr sz="800" b="0" i="1" dirty="0">
                <a:solidFill>
                  <a:srgbClr val="5A6773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5A6773"/>
                </a:solidFill>
                <a:latin typeface="Arial"/>
              </a:rPr>
              <a:t>різних</a:t>
            </a:r>
            <a:r>
              <a:rPr sz="800" b="0" i="1" dirty="0">
                <a:solidFill>
                  <a:srgbClr val="5A6773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5A6773"/>
                </a:solidFill>
                <a:latin typeface="Arial"/>
              </a:rPr>
              <a:t>ролей</a:t>
            </a:r>
            <a:endParaRPr sz="800" b="0" i="1" dirty="0">
              <a:solidFill>
                <a:srgbClr val="5A677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Загальна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Структура даних платформи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Окремо винесена діаграма для читабельності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46304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схема даних відображає зв’язки між користувачами, курсами, завданнями та оцінками;</a:t>
            </a:r>
          </a:p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ця діаграма використовувалася для формування тестів доступу та перевірки цілісності даних.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417320"/>
            <a:ext cx="6583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036" y="640080"/>
            <a:ext cx="4672794" cy="53675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00600" y="60167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1">
                <a:solidFill>
                  <a:srgbClr val="5A6773"/>
                </a:solidFill>
                <a:latin typeface="Arial"/>
              </a:rPr>
              <a:t>Рисунок 3 – Фрагмент схеми даних платформи Mooden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Індивідуальна частина: функціональне тестування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Завдання моєї роботи у межах ККП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5806440" cy="21488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перевірити працездатність основних сценаріїв mobile та web;</a:t>
            </a:r>
          </a:p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сформувати тест-кейси з кроками та очікуваним результатом;</a:t>
            </a:r>
          </a:p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провести аудит відповідності frontend API-запитів backend-маршрутам;</a:t>
            </a:r>
          </a:p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додати приклади автоматизованих перевірок для подальшого регресійного тестування.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325880"/>
            <a:ext cx="1325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380744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 i="0">
                <a:solidFill>
                  <a:srgbClr val="0C8AA3"/>
                </a:solidFill>
                <a:latin typeface="Arial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1" y="1709928"/>
            <a:ext cx="1271016" cy="45719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Arial"/>
              </a:rPr>
              <a:t>mobile
тест-кейсів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25880"/>
            <a:ext cx="1325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0" y="1380744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 i="0">
                <a:solidFill>
                  <a:srgbClr val="F2A93B"/>
                </a:solidFill>
                <a:latin typeface="Arial"/>
              </a:rPr>
              <a:t>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1709928"/>
            <a:ext cx="1271016" cy="45719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Arial"/>
              </a:rPr>
              <a:t>web
тест-кейси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1325880"/>
            <a:ext cx="1325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24160" y="1380744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 i="0">
                <a:solidFill>
                  <a:srgbClr val="0F8B65"/>
                </a:solidFill>
                <a:latin typeface="Arial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1592" y="1709928"/>
            <a:ext cx="1271016" cy="45719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Arial"/>
              </a:rPr>
              <a:t>критичних
збоїв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2788920"/>
            <a:ext cx="1508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3344" y="2825496"/>
            <a:ext cx="1221190" cy="239572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646920" y="2788920"/>
            <a:ext cx="1508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9542" y="2825496"/>
            <a:ext cx="1223514" cy="23957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18120" y="5394960"/>
            <a:ext cx="352044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1">
                <a:solidFill>
                  <a:srgbClr val="5A6773"/>
                </a:solidFill>
                <a:latin typeface="Arial"/>
              </a:rPr>
              <a:t>Рисунок 4 – Екрани, використані в перевірках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Процес функціонального тестування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Послідовність виконання індивідуальної частини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239" y="1325880"/>
            <a:ext cx="7467600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1560" y="580644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Arial"/>
              </a:rPr>
              <a:t>Результатом цього процесу стали таблиці тестів, таблиці результатів та приклади автоперевірок.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Середовище та інструменти тестування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Компоненти, що використовувалися під час перевірок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173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8" y="1527048"/>
            <a:ext cx="292608" cy="292608"/>
          </a:xfrm>
          <a:prstGeom prst="ellipse">
            <a:avLst/>
          </a:prstGeom>
          <a:solidFill>
            <a:srgbClr val="0C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1554480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1508760"/>
            <a:ext cx="1911095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Flutter / Dart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1801368"/>
            <a:ext cx="2258568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50" b="0" i="0">
                <a:solidFill>
                  <a:srgbClr val="5A6773"/>
                </a:solidFill>
                <a:latin typeface="Arial"/>
              </a:rPr>
              <a:t>Мобільний клієнт, маршрути, віджети, smoke- та unit-перевірки.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4173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93008" y="1527048"/>
            <a:ext cx="292608" cy="292608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93008" y="1554480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1508760"/>
            <a:ext cx="1911095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HTML / CSS / 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1801368"/>
            <a:ext cx="2258568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50" b="0" i="0">
                <a:solidFill>
                  <a:srgbClr val="5A6773"/>
                </a:solidFill>
                <a:latin typeface="Arial"/>
              </a:rPr>
              <a:t>Вебчастина, сторінки кабінетів, навігація, локальні ресурси.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4173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44768" y="1527048"/>
            <a:ext cx="292608" cy="292608"/>
          </a:xfrm>
          <a:prstGeom prst="ellipse">
            <a:avLst/>
          </a:prstGeom>
          <a:solidFill>
            <a:srgbClr val="0F8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44768" y="1554480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7" y="1508760"/>
            <a:ext cx="1911095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Node.js / 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5" y="1801368"/>
            <a:ext cx="2258568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50" b="0" i="0">
                <a:solidFill>
                  <a:srgbClr val="5A6773"/>
                </a:solidFill>
                <a:latin typeface="Arial"/>
              </a:rPr>
              <a:t>REST API, JWT, ролі, backend-маршрути, бізнес-логіка.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14173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96528" y="1527048"/>
            <a:ext cx="292608" cy="292608"/>
          </a:xfrm>
          <a:prstGeom prst="ellipse">
            <a:avLst/>
          </a:prstGeom>
          <a:solidFill>
            <a:srgbClr val="0C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96528" y="1554480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1508760"/>
            <a:ext cx="1911095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PostgreSQL / Playwright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14816" y="1801368"/>
            <a:ext cx="2258568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50" b="0" i="0">
                <a:solidFill>
                  <a:srgbClr val="5A6773"/>
                </a:solidFill>
                <a:latin typeface="Arial"/>
              </a:rPr>
              <a:t>База даних, API audit, web-перевірки й фіксація результатів.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06324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ручні функціональні тест-кейси — для перевірки користувацьких сценаріїв;</a:t>
            </a:r>
          </a:p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unit і smoke-тести — для локальної валідації коду;</a:t>
            </a:r>
          </a:p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Playwright — для перевірки вебсторінок;</a:t>
            </a:r>
          </a:p>
          <a:p>
            <a:pPr algn="l">
              <a:spcAft>
                <a:spcPts val="6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Python API audit — для звірки маршрутів клієнта та backend.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2880360"/>
            <a:ext cx="22860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7272" y="2916936"/>
            <a:ext cx="1602014" cy="25786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Фрагмент таблиці функціональних тестів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Приклад структури ручного тест-кейсу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554480"/>
          <a:ext cx="10058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>
                    <a:solidFill>
                      <a:srgbClr val="0C8A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Сценарій</a:t>
                      </a:r>
                    </a:p>
                  </a:txBody>
                  <a:tcPr>
                    <a:solidFill>
                      <a:srgbClr val="0C8A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Очікуваний результат</a:t>
                      </a:r>
                    </a:p>
                  </a:txBody>
                  <a:tcPr>
                    <a:solidFill>
                      <a:srgbClr val="0C8A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Фактичний результат</a:t>
                      </a:r>
                    </a:p>
                  </a:txBody>
                  <a:tcPr>
                    <a:solidFill>
                      <a:srgbClr val="0C8A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Статус</a:t>
                      </a:r>
                    </a:p>
                  </a:txBody>
                  <a:tcPr>
                    <a:solidFill>
                      <a:srgbClr val="0C8A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M-01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Вхід студента з валідними даними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Відкрито головний екран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Головний екран відкрито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M-04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Перехід до списку курсів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Показано доступні курси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Курси відображено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M-09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Відкриття завдання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Показано опис і вкладення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Дані завдання завантажено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W-03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Відкриття сторінки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Таблиця користувачів доступна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Сторінка працює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API-07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Зіставлення POST 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Маршрут наявний на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Маршрут знайдено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14400" y="5760720"/>
            <a:ext cx="101498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Arial"/>
              </a:rPr>
              <a:t>У повному тест-комплекті використовувалися окремі набори сценаріїв для mobile, web та технічної перевірки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Таблиця результатів мобільного тестування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Ключові сценарії студентського мобільного інтерфейсу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00200"/>
          <a:ext cx="55778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Перевірка</a:t>
                      </a:r>
                    </a:p>
                  </a:txBody>
                  <a:tcPr>
                    <a:solidFill>
                      <a:srgbClr val="0C8A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Кількість / статус</a:t>
                      </a:r>
                    </a:p>
                  </a:txBody>
                  <a:tcPr>
                    <a:solidFill>
                      <a:srgbClr val="0C8A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Тест-кейси 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35 /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Успішні сценарії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35 /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Критичні дефекти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Перевірені модулі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авторизація, курси, завдання, тести, оцінки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Середовище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Flutter-клієнт + backend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0" y="1554480"/>
            <a:ext cx="16459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5" y="2375408"/>
            <a:ext cx="1572768" cy="187858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281160" y="1554480"/>
            <a:ext cx="16459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36" y="1740255"/>
            <a:ext cx="1572768" cy="314888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69480" y="5212080"/>
            <a:ext cx="3749039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1">
                <a:solidFill>
                  <a:srgbClr val="5A6773"/>
                </a:solidFill>
                <a:latin typeface="Arial"/>
              </a:rPr>
              <a:t>Рисунок 5 – Перевірка входу та списку курсів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Таблиця результатів вебтестування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Ключові сценарії для ролей викладача та адміністратора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00200"/>
          <a:ext cx="55778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Перевірка</a:t>
                      </a:r>
                    </a:p>
                  </a:txBody>
                  <a:tcPr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Кількість / статус</a:t>
                      </a:r>
                    </a:p>
                  </a:txBody>
                  <a:tcPr>
                    <a:solidFill>
                      <a:srgbClr val="F2A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Тест-кейси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43 /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Успішні сценарії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43 /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Критичні дефекти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Перевірені модулі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users, reports, role pages, локальні ресурси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Середовище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Web-клієнт + backend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0" y="1554480"/>
            <a:ext cx="16459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5" y="1880293"/>
            <a:ext cx="1572768" cy="286881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281160" y="1554480"/>
            <a:ext cx="16459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36" y="2048933"/>
            <a:ext cx="1572768" cy="25315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5212080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1">
                <a:solidFill>
                  <a:srgbClr val="5A6773"/>
                </a:solidFill>
                <a:latin typeface="Arial"/>
              </a:rPr>
              <a:t>Рисунок 6 – Приклади перевірених вебекранів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Приклад сценарію: авторизація та перегляд курсів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Великі читабельні скриншоти інтерфейсу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2286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2381758"/>
            <a:ext cx="2212848" cy="26431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749039" y="1463040"/>
            <a:ext cx="2286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1361" y="1499616"/>
            <a:ext cx="2201357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192024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користувач вводить валідні облікові дані;</a:t>
            </a:r>
          </a:p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після входу відкривається список доступних курсів;</a:t>
            </a:r>
          </a:p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перевіряється коректність навігації та відображення даних.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Приклад сценарію: перегляд завдання та оцінок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Перевірка навчального контенту та результатів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2286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1536862"/>
            <a:ext cx="2212848" cy="433291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749039" y="1463040"/>
            <a:ext cx="2286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5615" y="2866409"/>
            <a:ext cx="2212848" cy="16738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192024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відкривається конкретне завдання з описом і вкладеннями;</a:t>
            </a:r>
          </a:p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перевіряється подання роботи та зміна статусу;</a:t>
            </a:r>
          </a:p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оцінки мають відповідати даним, отриманим із backend.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Приклад сценарію: викладач створює завдання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Перевірка ролі викладача та форми введення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2468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2195000"/>
            <a:ext cx="2395728" cy="301663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794760" y="1463040"/>
            <a:ext cx="2468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336" y="2158287"/>
            <a:ext cx="2395728" cy="30900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2280" y="1828800"/>
            <a:ext cx="4297680" cy="23774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викладач переходить до курсу і відкриває форму створення завдання;</a:t>
            </a:r>
          </a:p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поля назви, опису та дедлайну мають бути доступними;</a:t>
            </a:r>
          </a:p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після збереження нове завдання повинне відображатися у курсі.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Приклад сценарію: review queue та конструктор тестів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Перевірка складніших інтерфейсних сценаріїв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46304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2077312"/>
            <a:ext cx="2487168" cy="325201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977639" y="146304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215" y="2582697"/>
            <a:ext cx="2487168" cy="22412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0" y="1828800"/>
            <a:ext cx="3931920" cy="23774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 algn="l">
              <a:spcAft>
                <a:spcPts val="600"/>
              </a:spcAft>
              <a:defRPr sz="1350">
                <a:solidFill>
                  <a:srgbClr val="111111"/>
                </a:solidFill>
                <a:latin typeface="Arial"/>
              </a:defRPr>
            </a:pPr>
            <a:r>
              <a:t>перевіряється відображення робіт, що очікують оцінювання;</a:t>
            </a:r>
          </a:p>
          <a:p>
            <a:pPr algn="l">
              <a:spcAft>
                <a:spcPts val="600"/>
              </a:spcAft>
              <a:defRPr sz="1350">
                <a:solidFill>
                  <a:srgbClr val="111111"/>
                </a:solidFill>
                <a:latin typeface="Arial"/>
              </a:defRPr>
            </a:pPr>
            <a:r>
              <a:t>викладач має можливість перейти до перевірки та виставлення оцінки;</a:t>
            </a:r>
          </a:p>
          <a:p>
            <a:pPr algn="l">
              <a:spcAft>
                <a:spcPts val="600"/>
              </a:spcAft>
              <a:defRPr sz="1350">
                <a:solidFill>
                  <a:srgbClr val="111111"/>
                </a:solidFill>
                <a:latin typeface="Arial"/>
              </a:defRPr>
            </a:pPr>
            <a:r>
              <a:t>у конструкторі тестів контролюється створення та відображення питань.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Фрагмент коду: unit-тест ролей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Локальна перевірка логіки доступу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00200"/>
            <a:ext cx="5394960" cy="4160520"/>
          </a:xfrm>
          <a:prstGeom prst="roundRect">
            <a:avLst/>
          </a:prstGeom>
          <a:solidFill>
            <a:srgbClr val="0A1722"/>
          </a:solidFill>
          <a:ln w="12700">
            <a:solidFill>
              <a:srgbClr val="15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512064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1" i="0">
                <a:solidFill>
                  <a:srgbClr val="F2A93B"/>
                </a:solidFill>
                <a:latin typeface="Arial"/>
              </a:rPr>
              <a:t>Dart / unit-test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11095"/>
            <a:ext cx="5120640" cy="3776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80" b="0" i="0">
                <a:solidFill>
                  <a:srgbClr val="E9F0F5"/>
                </a:solidFill>
                <a:latin typeface="Consolas"/>
              </a:rPr>
              <a:t>test('student may open courses tab', () async {
  final result = canOpenTab(role: 'student', tab: 'courses');
  expect(result, true);
});
test('guest may not open grade page', () async {
  final result = canOpenPage(role: 'guest', page: 'grades');
  expect(result, false);
});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28800"/>
            <a:ext cx="4663440" cy="18288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перевіряється дозволений доступ до елементів інтерфейсу;</a:t>
            </a:r>
          </a:p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логіка ролей контролюється ще до ручного тестування;</a:t>
            </a:r>
          </a:p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такі тести зручно запускати локально після кожної зміни.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069080"/>
            <a:ext cx="14630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8694" y="4105656"/>
            <a:ext cx="773250" cy="152704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281160" y="4069080"/>
            <a:ext cx="14630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4093" y="4105656"/>
            <a:ext cx="837172" cy="15270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Фрагменти коду: smoke-тест і Playwright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Приклади автоматизації для mobile та 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45920"/>
            <a:ext cx="5440680" cy="3611880"/>
          </a:xfrm>
          <a:prstGeom prst="roundRect">
            <a:avLst/>
          </a:prstGeom>
          <a:solidFill>
            <a:srgbClr val="0A1722"/>
          </a:solidFill>
          <a:ln w="12700">
            <a:solidFill>
              <a:srgbClr val="15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37360"/>
            <a:ext cx="516636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1" i="0">
                <a:solidFill>
                  <a:srgbClr val="F2A93B"/>
                </a:solidFill>
                <a:latin typeface="Arial"/>
              </a:rPr>
              <a:t>Flutter smoke-test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56816"/>
            <a:ext cx="5166360" cy="32278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80" b="0" i="0">
                <a:solidFill>
                  <a:srgbClr val="E9F0F5"/>
                </a:solidFill>
                <a:latin typeface="Consolas"/>
              </a:rPr>
              <a:t>testWidgets('login screen is visible', (tester) async {
  await tester.pumpWidget(const MyApp());
  expect(find.text('Увійти'), findsOneWidget);
  await tester.enterText(find.byType(TextField).first, 'user@test.com');
  await tester.tap(find.text('Увійти'));
  await tester.pump();
});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45920"/>
            <a:ext cx="5120640" cy="3611880"/>
          </a:xfrm>
          <a:prstGeom prst="roundRect">
            <a:avLst/>
          </a:prstGeom>
          <a:solidFill>
            <a:srgbClr val="0A1722"/>
          </a:solidFill>
          <a:ln w="12700">
            <a:solidFill>
              <a:srgbClr val="15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484632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1" i="0">
                <a:solidFill>
                  <a:srgbClr val="F2A93B"/>
                </a:solidFill>
                <a:latin typeface="Arial"/>
              </a:rPr>
              <a:t>Playwright web-test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56816"/>
            <a:ext cx="4846320" cy="32278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80" b="0" i="0">
                <a:solidFill>
                  <a:srgbClr val="E9F0F5"/>
                </a:solidFill>
                <a:latin typeface="Consolas"/>
              </a:rPr>
              <a:t>test('student dashboard loads', async ({ page }) =&gt; {
  await page.goto('/student');
  await expect(page.getByText('My Courses')).toBeVisible();
  await expect(page.getByText('Assignments')).toBeVisible();
});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4864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Arial"/>
              </a:rPr>
              <a:t>Smoke-тест підтверджує базовий запуск застосунку, а Playwright — доступність ключових елементів вебінтерфейсу.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Індивідуальна частина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Результати аудиту API та узагальнення тестування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Підсумок технічних і функціональних перевірок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45920"/>
            <a:ext cx="4572000" cy="2926080"/>
          </a:xfrm>
          <a:prstGeom prst="roundRect">
            <a:avLst/>
          </a:prstGeom>
          <a:solidFill>
            <a:srgbClr val="0A1722"/>
          </a:solidFill>
          <a:ln w="12700">
            <a:solidFill>
              <a:srgbClr val="15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1" i="0">
                <a:solidFill>
                  <a:srgbClr val="F2A93B"/>
                </a:solidFill>
                <a:latin typeface="Arial"/>
              </a:rPr>
              <a:t>Python API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956816"/>
            <a:ext cx="4297680" cy="2542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80" b="0" i="0">
                <a:solidFill>
                  <a:srgbClr val="E9F0F5"/>
                </a:solidFill>
                <a:latin typeface="Consolas"/>
              </a:rPr>
              <a:t>for route in frontend_routes:
    key = (route['method'], route['path'])
    if key in backend_routes:
        passed += 1
    else:
        mismatches.append(route)
print(f'PASS: {passed}')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0" y="1737360"/>
          <a:ext cx="3108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Показник</a:t>
                      </a:r>
                    </a:p>
                  </a:txBody>
                  <a:tcPr>
                    <a:solidFill>
                      <a:srgbClr val="0F8B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Значення</a:t>
                      </a:r>
                    </a:p>
                  </a:txBody>
                  <a:tcPr>
                    <a:solidFill>
                      <a:srgbClr val="0F8B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Перевірені API-запити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Відповідні backend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Невідповідності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Статус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9144000" y="1783080"/>
            <a:ext cx="914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837943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 i="0">
                <a:solidFill>
                  <a:srgbClr val="0C8AA3"/>
                </a:solidFill>
                <a:latin typeface="Arial"/>
              </a:rPr>
              <a:t>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2167128"/>
            <a:ext cx="859536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Arial"/>
              </a:rPr>
              <a:t>mobile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5560" y="1783080"/>
            <a:ext cx="914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95560" y="1837943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 i="0">
                <a:solidFill>
                  <a:srgbClr val="F2A93B"/>
                </a:solidFill>
                <a:latin typeface="Arial"/>
              </a:rPr>
              <a:t>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2992" y="2167128"/>
            <a:ext cx="859536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Arial"/>
              </a:rPr>
              <a:t>web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247120" y="1783080"/>
            <a:ext cx="685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0" y="1837943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 i="0">
                <a:solidFill>
                  <a:srgbClr val="0F8B65"/>
                </a:solidFill>
                <a:latin typeface="Arial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4552" y="2167128"/>
            <a:ext cx="630936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Arial"/>
              </a:rPr>
              <a:t>збоїв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57200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rial"/>
              </a:rPr>
              <a:t>Ручне та автоматизоване тестування підтвердило коректність основних сценаріїв користувача. Критичних відмов або невідповідностей між frontend і backend не виявлено.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475488" cy="320811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1417320" cy="258871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28016"/>
            <a:ext cx="1645920" cy="37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393192"/>
            <a:ext cx="11731752" cy="9144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6501384"/>
            <a:ext cx="11731752" cy="9144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457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 b="0" i="0">
                <a:solidFill>
                  <a:srgbClr val="5A6773"/>
                </a:solidFill>
                <a:latin typeface="Arial"/>
              </a:rPr>
              <a:t>Висновки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39728" y="6519672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800" b="0" i="0">
                <a:solidFill>
                  <a:srgbClr val="5A6773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Висновки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7899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0" i="0">
                <a:solidFill>
                  <a:srgbClr val="5A6773"/>
                </a:solidFill>
                <a:latin typeface="Arial"/>
              </a:rPr>
              <a:t>Отримані результати та подальший розвиток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5212080" cy="30175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сформовано набір функціональних тест-кейсів для mobile та web-частини системи;</a:t>
            </a:r>
          </a:p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виконано перевірку основних сценаріїв: авторизація, курси, завдання, тести, ролі користувачів;</a:t>
            </a:r>
          </a:p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проведено аудит API та підтверджено відповідність маршрутів frontend і backend;</a:t>
            </a:r>
          </a:p>
          <a:p>
            <a:pPr algn="l">
              <a:spcAft>
                <a:spcPts val="600"/>
              </a:spcAft>
              <a:defRPr sz="1400">
                <a:solidFill>
                  <a:srgbClr val="111111"/>
                </a:solidFill>
                <a:latin typeface="Arial"/>
              </a:defRPr>
            </a:pPr>
            <a:r>
              <a:t>підготовлено приклади автотестів, які можна використовувати для регресійної перевірки.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691640"/>
            <a:ext cx="4572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11696" y="1783080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Практичний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075688"/>
            <a:ext cx="4315968" cy="9418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50" b="0" i="0">
                <a:solidFill>
                  <a:srgbClr val="5A6773"/>
                </a:solidFill>
                <a:latin typeface="Arial"/>
              </a:rPr>
              <a:t>Презентація показує власний внесок у ККП: тестові таблиці, результати, код перевірок і великі скриншоти ключових сценаріїв.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74720"/>
            <a:ext cx="4572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11696" y="3566160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Подальший розвиток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3858768"/>
            <a:ext cx="4315968" cy="9418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950" b="0" i="0">
                <a:solidFill>
                  <a:srgbClr val="5A6773"/>
                </a:solidFill>
                <a:latin typeface="Arial"/>
              </a:rPr>
              <a:t>Надалі набір можна розширити e2e-сценаріями, негативними перевірками та автоматичним запуском у CI.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Arial"/>
              </a:rPr>
              <a:t>Результати роботи підтверджують готовність тестового комплекту до демонстрації під час захисту ККП.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1339</Words>
  <Application>Microsoft Office PowerPoint</Application>
  <PresentationFormat>Широкий екран</PresentationFormat>
  <Paragraphs>240</Paragraphs>
  <Slides>20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Марко Максименко</cp:lastModifiedBy>
  <cp:revision>2</cp:revision>
  <dcterms:created xsi:type="dcterms:W3CDTF">2013-01-27T09:14:16Z</dcterms:created>
  <dcterms:modified xsi:type="dcterms:W3CDTF">2026-06-06T17:56:09Z</dcterms:modified>
  <cp:category/>
</cp:coreProperties>
</file>